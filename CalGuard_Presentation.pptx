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737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14A3A8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CalGuard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Nutrition Tracking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3716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Presentation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Demo, Methodology &amp; Research References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Furemu | 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globally affected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or obesity (WHO, 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variance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food databases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20440"/>
            <a:ext cx="64008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286000" y="3611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tracking apps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Thai cuisine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44475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lack AI coaching in local languages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03911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multi-agent LLM for Thai nutrition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263347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personalized hybrid food recommendation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227832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Thai NLP for text-based meal logging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3840480" cy="914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931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CalGuard's Goal: </a:t>
            </a:r>
            <a:pPr indent="0" marL="0">
              <a:buNone/>
            </a:pPr>
            <a:r>
              <a:rPr lang="en-US" sz="11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evidence-based, AI-powered nutrition tracking app for Thai users with multi-agent coaching, hybrid food recommendation, and comprehensive progress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 is a cross-platform AI-powered nutrition tracking application with Flutter mobile frontend and Python FastAPI backend, designed specifically for Thai users.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Logging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meals via text, search, or manual entry with auto calorie/macro calculation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002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39776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Thai-language chatbot providing personalized nutrition advice via multi-agent LLM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6002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dashboards: BMI, macros, weight trends, adherence rates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11430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Recommendation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algorithm (NFS + Cosine + User Pref) for personalized suggestions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2918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3977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Engine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Jeor, TDEE, Atwater factors, Dynamic Weight Model (Hall 2011)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291840"/>
            <a:ext cx="365760" cy="365760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6812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Integration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749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HealthKit &amp; Google Fit sync, water tracking, weight logs, push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(Flutter)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3.5 + Dart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385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38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State Mgmt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414016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89504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SDK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64992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64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 Visualization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 (Async)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19385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938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414016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Supabase Auth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2889504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(slowapi)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3364992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364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Monitoring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384048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Service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Layer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System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19385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938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(DeepSeek-R1)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2414016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 (pythainlp)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2889504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(sklearn)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364992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364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Extraction Engine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840480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Analysis Pipeline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5176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 &gt;&gt;&gt;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Call  &gt;&gt;&gt;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645920" cy="3383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960120"/>
            <a:ext cx="2011680" cy="3383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9601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914400" cy="3383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96012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960120"/>
            <a:ext cx="3474720" cy="3383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96012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298448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29844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298448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12984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1298448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29844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3.5.0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298448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29844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iOS/Android/Web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1636776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3677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1636776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163677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1636776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163677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1636776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163677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1975104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197510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1975104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197510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1975104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197510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1975104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97510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 server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2313432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3134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94560" y="2313432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31343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2313432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0" y="231343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313432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31343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storage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2651760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26517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94560" y="2651760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JWT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06240" y="2651760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297680" y="265176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2651760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0" y="265176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custom tokens (HS256)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2990088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299008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94560" y="2990088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5" name="Text 53"/>
          <p:cNvSpPr/>
          <p:nvPr/>
        </p:nvSpPr>
        <p:spPr>
          <a:xfrm>
            <a:off x="2286000" y="299008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(DeepSeek-R1)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06240" y="2990088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7" name="Text 55"/>
          <p:cNvSpPr/>
          <p:nvPr/>
        </p:nvSpPr>
        <p:spPr>
          <a:xfrm>
            <a:off x="4297680" y="299008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20640" y="2990088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9" name="Text 57"/>
          <p:cNvSpPr/>
          <p:nvPr/>
        </p:nvSpPr>
        <p:spPr>
          <a:xfrm>
            <a:off x="5212080" y="299008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for coaching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3328416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3328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194560" y="3328416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286000" y="332841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pythainlp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06240" y="3328416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297680" y="332841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5.0.4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20640" y="3328416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212080" y="332841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tokenization &amp; food extraction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3666744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36667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194560" y="3666744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1" name="Text 69"/>
          <p:cNvSpPr/>
          <p:nvPr/>
        </p:nvSpPr>
        <p:spPr>
          <a:xfrm>
            <a:off x="2286000" y="36667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pandas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206240" y="3666744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3" name="Text 71"/>
          <p:cNvSpPr/>
          <p:nvPr/>
        </p:nvSpPr>
        <p:spPr>
          <a:xfrm>
            <a:off x="4297680" y="366674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1.5.2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120640" y="3666744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0" y="366674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 regression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48640" y="4005072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640080" y="400507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194560" y="4005072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0" y="40050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206240" y="4005072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297680" y="400507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0.68.0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120640" y="4005072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5212080" y="400507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in Flutter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8640" y="4343400"/>
            <a:ext cx="16459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5" name="Text 83"/>
          <p:cNvSpPr/>
          <p:nvPr/>
        </p:nvSpPr>
        <p:spPr>
          <a:xfrm>
            <a:off x="640080" y="434340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194560" y="4343400"/>
            <a:ext cx="201168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7" name="Text 85"/>
          <p:cNvSpPr/>
          <p:nvPr/>
        </p:nvSpPr>
        <p:spPr>
          <a:xfrm>
            <a:off x="2286000" y="4343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Flutter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206240" y="4343400"/>
            <a:ext cx="91440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9" name="Text 87"/>
          <p:cNvSpPr/>
          <p:nvPr/>
        </p:nvSpPr>
        <p:spPr>
          <a:xfrm>
            <a:off x="4297680" y="434340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2.9.0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120640" y="4343400"/>
            <a:ext cx="3474720" cy="33832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91" name="Text 89"/>
          <p:cNvSpPr/>
          <p:nvPr/>
        </p:nvSpPr>
        <p:spPr>
          <a:xfrm>
            <a:off x="5212080" y="434340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locator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48640" y="4681728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640080" y="46817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194560" y="4681728"/>
            <a:ext cx="20116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2286000" y="468172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SDK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206240" y="4681728"/>
            <a:ext cx="9144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4297680" y="468172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2.17.0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120640" y="4681728"/>
            <a:ext cx="347472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5212080" y="468172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 &amp; observability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Mathematical Formulas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equations for calorie estimation (Mifflin et al., 1990; Harris &amp; Benedict, 1919)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- Mifflin-St Jeor (Recommended)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(10 x W) + (6.25 x H) - (5 x A) + 5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(10 x W) + (6.25 x H) - (5 x A) - 161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W=weight(kg), H=height(cm), A=age(years)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within 10% of measured RMR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(Frankenfield et al., 2005)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MyFitnessPal, Cronometer &amp; CalGuard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 - Total Daily Energy Expenditure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TDEE = BMR x PAL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job, no exercise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Lightly Active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1.375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days/week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days/week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days/week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 = W / H²</a:t>
            </a:r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Atwater: Total kcal = (C x 4) + (P x 4) + (F x 9)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0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IBW (Male) = 50 + 2.3 x (Hin - 60)  |  IBW (Female) = 45.5 + 2.3 x (Hin - 60)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 Tracking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Calorie Progress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Progress(%) = (Consumed/Target) x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Under(&lt;90%) | On Track(90-110%) | Over(&gt;110%)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bar with macro breakdown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Goal Progress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Progress(%) = (SW-CW)/(SW-GW) x 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= (CW-GW) x 7700 / Avg_Deficit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gauge with countdown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Average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RA(n) = SUM(C[n..n-6]) / 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852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68% (Linardon, 2020)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trend smoothing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2860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 Regression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W(t) = a + b*t [least-squares]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852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b&lt;0: losing | b&gt;0: gaining | b=0: maintaining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3108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LinearRegression (7-30 day)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576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Adherence 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AR(%) = (On_target_days/Total) x 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On-target: 0.9*T &lt;= intake &lt;= 1.1*T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success predictor (Burke 2011)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657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657600"/>
            <a:ext cx="54864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 Progress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977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Macro_% = (Consumed_g/Target_g) x 100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for Carb, Protein, Fat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rings: red/yellow/green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Weight Loss Timeline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Static Timeline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 = (CW - GW) x 7700 / DD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constant deficit &amp; 7,700 kcal/kg fat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for short-term (1-4 weeks)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Overestimates long-term by up to 40%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 NIH Dynamic (Recommended)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dBW/dt = [EI(t) - EE(t)] / rho(F,L)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metabolic adaptation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1-5kg=1.10 | 5-10kg=1.25 | 10-20kg=1.40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Hall et al. (2011), The Lancet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Weight Loss Rates (WHO/AHA Guidelines)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37160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5661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566160"/>
            <a:ext cx="10972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901952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kg/week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3566160"/>
            <a:ext cx="164592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2999232" y="35661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182880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356616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10kg Timeline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566160"/>
            <a:ext cx="210312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56616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85876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858768"/>
            <a:ext cx="10972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901952" y="385876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858768"/>
            <a:ext cx="16459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999232" y="385876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kcal/day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858768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645152" y="38587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weeks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3858768"/>
            <a:ext cx="21031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85876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51376"/>
            <a:ext cx="137160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415137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0" y="4151376"/>
            <a:ext cx="109728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1901952" y="415137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4151376"/>
            <a:ext cx="164592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2999232" y="4151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kcal/day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151376"/>
            <a:ext cx="182880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4645152" y="41513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weeks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151376"/>
            <a:ext cx="210312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41513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443984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444398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0" y="4443984"/>
            <a:ext cx="10972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901952" y="444398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0" y="4443984"/>
            <a:ext cx="16459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999232" y="44439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 kcal/day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443984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645152" y="444398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weeks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4443984"/>
            <a:ext cx="210312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473952" y="44439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736592"/>
            <a:ext cx="137160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473659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0" y="4736592"/>
            <a:ext cx="109728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6" name="Text 54"/>
          <p:cNvSpPr/>
          <p:nvPr/>
        </p:nvSpPr>
        <p:spPr>
          <a:xfrm>
            <a:off x="1901952" y="473659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26080" y="4736592"/>
            <a:ext cx="164592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8" name="Text 56"/>
          <p:cNvSpPr/>
          <p:nvPr/>
        </p:nvSpPr>
        <p:spPr>
          <a:xfrm>
            <a:off x="2999232" y="47365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kcal/day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4736592"/>
            <a:ext cx="182880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60" name="Text 58"/>
          <p:cNvSpPr/>
          <p:nvPr/>
        </p:nvSpPr>
        <p:spPr>
          <a:xfrm>
            <a:off x="4645152" y="473659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weeks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0" y="4736592"/>
            <a:ext cx="2103120" cy="29260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62" name="Text 60"/>
          <p:cNvSpPr/>
          <p:nvPr/>
        </p:nvSpPr>
        <p:spPr>
          <a:xfrm>
            <a:off x="6473952" y="473659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Recommendation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approach: Content-Based + Collaborative Filtering + User Preference (Vakkund et al.,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Nutrition Fit Score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NFS(i) = 1 - SQRT[wc*(RCn-FCn)^2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wp*(RPn-FPn)^2 + wf*(RFn-FFn)^2]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Euclidean distance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wc=0.3, wp=0.4, wf=0.3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43000"/>
            <a:ext cx="2743200" cy="36576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Cosine Similarity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sim(A,B) = (A.B) / (||A|| x ||B||)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[kcal, carb, protein, fat, fibre]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profile matching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user history vectors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743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Hybrid Score (Final)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HS(i) = 0.5*NFS(i) + 0.3*sim(i)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+ 0.2*UP(i)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vs 74% content-only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= past_rating / 5.0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Lunch Recommendation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201168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39319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34640" y="3931920"/>
            <a:ext cx="91440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2889504" y="3931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49040" y="3931920"/>
            <a:ext cx="82296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3803904" y="39319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3931920"/>
            <a:ext cx="82296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626864" y="39319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3931920"/>
            <a:ext cx="82296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5449824" y="39319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137160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39319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" y="4169664"/>
            <a:ext cx="20116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4169664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Chicken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34640" y="4169664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889504" y="41696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169664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803904" y="41696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4169664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626864" y="41696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4169664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49824" y="41696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4169664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272784" y="41696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2960" y="4407408"/>
            <a:ext cx="201168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" y="440740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Rice (100g)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34640" y="4407408"/>
            <a:ext cx="91440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2889504" y="44074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49040" y="4407408"/>
            <a:ext cx="82296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0" name="Text 48"/>
          <p:cNvSpPr/>
          <p:nvPr/>
        </p:nvSpPr>
        <p:spPr>
          <a:xfrm>
            <a:off x="3803904" y="44074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0" y="4407408"/>
            <a:ext cx="82296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2" name="Text 50"/>
          <p:cNvSpPr/>
          <p:nvPr/>
        </p:nvSpPr>
        <p:spPr>
          <a:xfrm>
            <a:off x="4626864" y="44074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94960" y="4407408"/>
            <a:ext cx="82296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4" name="Text 52"/>
          <p:cNvSpPr/>
          <p:nvPr/>
        </p:nvSpPr>
        <p:spPr>
          <a:xfrm>
            <a:off x="5449824" y="44074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17920" y="4407408"/>
            <a:ext cx="137160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6" name="Text 54"/>
          <p:cNvSpPr/>
          <p:nvPr/>
        </p:nvSpPr>
        <p:spPr>
          <a:xfrm>
            <a:off x="6272784" y="44074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2960" y="4645152"/>
            <a:ext cx="20116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77824" y="46451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Fillet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34640" y="4645152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2889504" y="464515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749040" y="464515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803904" y="4645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0" y="464515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626864" y="4645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394960" y="464515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5449824" y="4645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17920" y="4645152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272784" y="46451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22960" y="4882896"/>
            <a:ext cx="201168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0" name="Text 68"/>
          <p:cNvSpPr/>
          <p:nvPr/>
        </p:nvSpPr>
        <p:spPr>
          <a:xfrm>
            <a:off x="877824" y="488289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 Rice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834640" y="4882896"/>
            <a:ext cx="91440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2" name="Text 70"/>
          <p:cNvSpPr/>
          <p:nvPr/>
        </p:nvSpPr>
        <p:spPr>
          <a:xfrm>
            <a:off x="2889504" y="48828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749040" y="4882896"/>
            <a:ext cx="82296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4" name="Text 72"/>
          <p:cNvSpPr/>
          <p:nvPr/>
        </p:nvSpPr>
        <p:spPr>
          <a:xfrm>
            <a:off x="3803904" y="48828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0" y="4882896"/>
            <a:ext cx="82296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6" name="Text 74"/>
          <p:cNvSpPr/>
          <p:nvPr/>
        </p:nvSpPr>
        <p:spPr>
          <a:xfrm>
            <a:off x="4626864" y="48828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394960" y="4882896"/>
            <a:ext cx="82296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8" name="Text 76"/>
          <p:cNvSpPr/>
          <p:nvPr/>
        </p:nvSpPr>
        <p:spPr>
          <a:xfrm>
            <a:off x="5449824" y="48828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17920" y="4882896"/>
            <a:ext cx="1371600" cy="237744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0" name="Text 78"/>
          <p:cNvSpPr/>
          <p:nvPr/>
        </p:nvSpPr>
        <p:spPr>
          <a:xfrm>
            <a:off x="6272784" y="48828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AI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Three-agent pipeline: ETL → Analysis → Response 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258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DataOrchestrator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from database: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profile, weight logs,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history, allergies,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intake 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3258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extraction (Thai NLP),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calorie/macro estimation,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warnings,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temp-food creation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06640" y="132588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5379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ResponseComposer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via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(Ollama/DeepSeek),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Thai-language coaching,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Abstraction Layer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874520" cy="73152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(Default)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DeepSeek-R1:1.5b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4069080"/>
            <a:ext cx="1874520" cy="7315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974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 option)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4069080"/>
            <a:ext cx="1874520" cy="73152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inference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 option)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4069080"/>
            <a:ext cx="1874520" cy="73152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4087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HF Model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122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 adapters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Thai NLP Food Extraction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"วันนี้กินข้าวผัดกะเพรา 1 จาน ต้มยำกุ้ง ครึ่งถ้วย"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874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Tokenization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pythainlp.tokenize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(newmm engine)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74520"/>
            <a:ext cx="457200" cy="457200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Matching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longest-match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food DB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874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Parsing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"1 จาน"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1.0 plates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7830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26680" y="187452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08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Lookup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food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&amp; macros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Result: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164592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37947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Detected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3794760"/>
            <a:ext cx="9144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2340864" y="3794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794760"/>
            <a:ext cx="109728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3255264" y="3794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3794760"/>
            <a:ext cx="9144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4352544" y="3794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3794760"/>
            <a:ext cx="9144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5266944" y="3794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794760"/>
            <a:ext cx="9144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9" name="Text 37"/>
          <p:cNvSpPr/>
          <p:nvPr/>
        </p:nvSpPr>
        <p:spPr>
          <a:xfrm>
            <a:off x="6181344" y="3794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050792"/>
            <a:ext cx="1645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40507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ข้าวผัดกะเพรา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4050792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2340864" y="40507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จาน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4050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255264" y="405079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kcal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0" y="4050792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352544" y="40507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12080" y="4050792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266944" y="40507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050792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181344" y="40507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" y="4306824"/>
            <a:ext cx="1645920" cy="2560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3" name="Text 51"/>
          <p:cNvSpPr/>
          <p:nvPr/>
        </p:nvSpPr>
        <p:spPr>
          <a:xfrm>
            <a:off x="694944" y="430682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ต้มยำกุ้ง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0" y="4306824"/>
            <a:ext cx="914400" cy="2560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Text 53"/>
          <p:cNvSpPr/>
          <p:nvPr/>
        </p:nvSpPr>
        <p:spPr>
          <a:xfrm>
            <a:off x="2340864" y="43068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ถ้วย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4306824"/>
            <a:ext cx="1097280" cy="2560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7" name="Text 55"/>
          <p:cNvSpPr/>
          <p:nvPr/>
        </p:nvSpPr>
        <p:spPr>
          <a:xfrm>
            <a:off x="3255264" y="430682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kcal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97680" y="4306824"/>
            <a:ext cx="914400" cy="2560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9" name="Text 57"/>
          <p:cNvSpPr/>
          <p:nvPr/>
        </p:nvSpPr>
        <p:spPr>
          <a:xfrm>
            <a:off x="4352544" y="43068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12080" y="4306824"/>
            <a:ext cx="914400" cy="2560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1" name="Text 59"/>
          <p:cNvSpPr/>
          <p:nvPr/>
        </p:nvSpPr>
        <p:spPr>
          <a:xfrm>
            <a:off x="5266944" y="43068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26480" y="4306824"/>
            <a:ext cx="914400" cy="25603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43068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0080" y="4562856"/>
            <a:ext cx="1645920" cy="256032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65" name="Text 63"/>
          <p:cNvSpPr/>
          <p:nvPr/>
        </p:nvSpPr>
        <p:spPr>
          <a:xfrm>
            <a:off x="694944" y="456285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0" y="4562856"/>
            <a:ext cx="914400" cy="256032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67" name="Text 65"/>
          <p:cNvSpPr/>
          <p:nvPr/>
        </p:nvSpPr>
        <p:spPr>
          <a:xfrm>
            <a:off x="2340864" y="4562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4562856"/>
            <a:ext cx="1097280" cy="256032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69" name="Text 67"/>
          <p:cNvSpPr/>
          <p:nvPr/>
        </p:nvSpPr>
        <p:spPr>
          <a:xfrm>
            <a:off x="3255264" y="456285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 kcal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297680" y="4562856"/>
            <a:ext cx="914400" cy="256032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71" name="Text 69"/>
          <p:cNvSpPr/>
          <p:nvPr/>
        </p:nvSpPr>
        <p:spPr>
          <a:xfrm>
            <a:off x="4352544" y="4562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212080" y="4562856"/>
            <a:ext cx="914400" cy="256032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73" name="Text 71"/>
          <p:cNvSpPr/>
          <p:nvPr/>
        </p:nvSpPr>
        <p:spPr>
          <a:xfrm>
            <a:off x="5266944" y="4562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26480" y="4562856"/>
            <a:ext cx="914400" cy="256032"/>
          </a:xfrm>
          <a:prstGeom prst="rect">
            <a:avLst/>
          </a:prstGeom>
          <a:solidFill>
            <a:srgbClr val="E8F4F4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4562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21g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Theera-Ampornpunt (2024), THFOOD-100 | INMU iFood (PMC11107195, 2024)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 (PostgreSQL)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email, password_hash,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gender, birth_date, height_cm,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current_weight_kg, activity_level,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target_calories, streak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14400"/>
            <a:ext cx="20116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325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food_id, name, type,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calories, protein, carbs, fat,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sodium, sugar, image_url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201168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325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meal_id, user_id, food_id,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date_consumed, meal_type,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 logged_calories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914400"/>
            <a:ext cx="2011680" cy="32004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detail_items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325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meal_id, food_id,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 unit_id,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cal/protein/carbs/fat per unit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01168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weight_logs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log_id, user_id,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weight_kg, recorded_date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29718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14600" y="2971800"/>
            <a:ext cx="201168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water_logs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383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log_id, user_id, date_record,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amount_ml, glasses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20116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383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recipe_id, food_id, description,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instructions, prep_time,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cooking_time, serving_people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29718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2971800"/>
            <a:ext cx="20116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notification_id, user_id,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message, type,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is_read, created_at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Endpoints (FastAPI)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974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/auth/login-supabase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350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/auth/forgot-password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269748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68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/users/{id}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/users/{id}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/{id}/pdpa-export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350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/users/{id}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68680"/>
            <a:ext cx="269748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868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/meals/{user_id}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/users/{id}/meals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/meals/{meal_id}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2350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/meals/{meal_id}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17520"/>
            <a:ext cx="2697480" cy="347472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17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/foods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" y="3803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/foods/{id}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" y="4151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/foods (admin)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4498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/recipes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01752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017520"/>
            <a:ext cx="269748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017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55848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/api/chat/coach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55848" y="3803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/api/meals/estimate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55848" y="4151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req/hr (coach)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55848" y="4498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req/hr (estimate)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01752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017520"/>
            <a:ext cx="269748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017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36208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/{id}/insights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36208" y="3803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/{id}/trends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36208" y="4151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/{id}/macros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36208" y="4498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/notifications/{id}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OAuth (Primary)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Sign-In, Email/Password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JWT (Fallback)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HS256, 12-hour TTL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 + Supabase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44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+ ownership checks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strict regex (no wildcard in prod)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609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10 req/hr chat, 30 req/hr estimate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847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sanitization: control char strip, 2K 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bcrypt with salt (passlib)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22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validation (own data only)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for remote DB connections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798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error tracking (no PII default)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035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PDPA: data export &amp; soft-delete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AI_ENABLED kill-switch</a:t>
            </a:r>
            <a:pPr indent="0" marL="0">
              <a:buNone/>
            </a:pPr>
            <a:r>
              <a:rPr lang="en-US" sz="10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 (nutrition only)</a:t>
            </a:r>
            <a:pPr indent="0" marL="0">
              <a:buNone/>
            </a:pPr>
            <a:r>
              <a:rPr lang="en-US" sz="10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Timeout per LLM call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Canned responses if LLM unavailable | Temp: 0.7, top_p: 0.9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Case: 2-Week Walkthrough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A: Male, 22y - Muscle Gain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65kg → 70kg (+5kg), Mod. Active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1,649 kcal/day (Mifflin-St Jeor)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1854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2,556 kcal/day (BMR x 1.55)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615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2,856 kcal/day (+300 surplus)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044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C:40% P:35% F:25% (High-Protein)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 kg, Adherence 78.6%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904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904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83% of target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3342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334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 weeks (slow pace)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B: Female, 28y - Weight Loss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68kg → 60kg (-8kg), Light Active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1,452 kcal/day (Mifflin-St Jeor)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185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21854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1,996 kcal/day (BMR x 1.375)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615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615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1,446 kcal/day (-550 deficit)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044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3044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C:35% P:30% F:35% (Low-Carb)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 kg, Adherence 64.3%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904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904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 intake too low (30%)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3342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60720" y="4334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weeks (recalibrated)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Comparison with Competitors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37160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1640" y="868680"/>
            <a:ext cx="146304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868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146304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868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137160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68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868680"/>
            <a:ext cx="109728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868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868680"/>
            <a:ext cx="12801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FatSecret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252728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252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Database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1252728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1252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Thai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1252728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252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14M+ crowd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1252728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252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verified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9320" y="1252728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2527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2.9K recipes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86600" y="1252728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1252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crowd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1636776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16367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91640" y="1636776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1737360" y="16367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(Thai)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1636776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16367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1636776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6367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1636776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16367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86600" y="1636776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0" y="16367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202082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2020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91640" y="2020824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1737360" y="2020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pythainlp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text-to-meal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54680" y="2020824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0" y="2020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202082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20208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989320" y="2020824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035040" y="20208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086600" y="2020824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20208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2404872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Tracking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91640" y="2404872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55" name="Text 53"/>
          <p:cNvSpPr/>
          <p:nvPr/>
        </p:nvSpPr>
        <p:spPr>
          <a:xfrm>
            <a:off x="1737360" y="2404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(C/P/F)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presets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54680" y="2404872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0" y="2404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17720" y="2404872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nutrients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89320" y="2404872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61" name="Text 59"/>
          <p:cNvSpPr/>
          <p:nvPr/>
        </p:nvSpPr>
        <p:spPr>
          <a:xfrm>
            <a:off x="6035040" y="24048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086600" y="2404872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040" y="2788920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BMR/TDEE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91640" y="2788920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67" name="Text 65"/>
          <p:cNvSpPr/>
          <p:nvPr/>
        </p:nvSpPr>
        <p:spPr>
          <a:xfrm>
            <a:off x="1737360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 + NIH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154680" y="2788920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200400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17720" y="2788920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66344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989320" y="2788920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6035040" y="2788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086600" y="2788920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7132320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20040" y="3172968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Recommend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91640" y="3172968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79" name="Text 77"/>
          <p:cNvSpPr/>
          <p:nvPr/>
        </p:nvSpPr>
        <p:spPr>
          <a:xfrm>
            <a:off x="1737360" y="3172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NFS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+Cosine+UP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154680" y="3172968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1" name="Text 79"/>
          <p:cNvSpPr/>
          <p:nvPr/>
        </p:nvSpPr>
        <p:spPr>
          <a:xfrm>
            <a:off x="3200400" y="3172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17720" y="3172968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3" name="Text 81"/>
          <p:cNvSpPr/>
          <p:nvPr/>
        </p:nvSpPr>
        <p:spPr>
          <a:xfrm>
            <a:off x="4663440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989320" y="3172968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5" name="Text 83"/>
          <p:cNvSpPr/>
          <p:nvPr/>
        </p:nvSpPr>
        <p:spPr>
          <a:xfrm>
            <a:off x="6035040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086600" y="3172968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87" name="Text 85"/>
          <p:cNvSpPr/>
          <p:nvPr/>
        </p:nvSpPr>
        <p:spPr>
          <a:xfrm>
            <a:off x="713232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20040" y="3557016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365760" y="3557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Predict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691640" y="3557016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91" name="Text 89"/>
          <p:cNvSpPr/>
          <p:nvPr/>
        </p:nvSpPr>
        <p:spPr>
          <a:xfrm>
            <a:off x="1737360" y="3557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NIH ODE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154680" y="3557016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3200400" y="3557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17720" y="3557016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4663440" y="3557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trend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989320" y="3557016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6035040" y="3557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086600" y="3557016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7132320" y="35570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320040" y="3941064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01" name="Text 99"/>
          <p:cNvSpPr/>
          <p:nvPr/>
        </p:nvSpPr>
        <p:spPr>
          <a:xfrm>
            <a:off x="365760" y="39410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Focus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691640" y="3941064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103" name="Text 101"/>
          <p:cNvSpPr/>
          <p:nvPr/>
        </p:nvSpPr>
        <p:spPr>
          <a:xfrm>
            <a:off x="1737360" y="3941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154680" y="3941064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05" name="Text 103"/>
          <p:cNvSpPr/>
          <p:nvPr/>
        </p:nvSpPr>
        <p:spPr>
          <a:xfrm>
            <a:off x="3200400" y="3941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617720" y="3941064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07" name="Text 105"/>
          <p:cNvSpPr/>
          <p:nvPr/>
        </p:nvSpPr>
        <p:spPr>
          <a:xfrm>
            <a:off x="4663440" y="39410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989320" y="3941064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09" name="Text 107"/>
          <p:cNvSpPr/>
          <p:nvPr/>
        </p:nvSpPr>
        <p:spPr>
          <a:xfrm>
            <a:off x="6035040" y="39410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focus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086600" y="3941064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11" name="Text 109"/>
          <p:cNvSpPr/>
          <p:nvPr/>
        </p:nvSpPr>
        <p:spPr>
          <a:xfrm>
            <a:off x="71323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20040" y="4325112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365760" y="43251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691640" y="4325112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115" name="Text 113"/>
          <p:cNvSpPr/>
          <p:nvPr/>
        </p:nvSpPr>
        <p:spPr>
          <a:xfrm>
            <a:off x="1737360" y="4325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154680" y="4325112"/>
            <a:ext cx="14630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5"/>
          <p:cNvSpPr/>
          <p:nvPr/>
        </p:nvSpPr>
        <p:spPr>
          <a:xfrm>
            <a:off x="3200400" y="4325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617720" y="4325112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7"/>
          <p:cNvSpPr/>
          <p:nvPr/>
        </p:nvSpPr>
        <p:spPr>
          <a:xfrm>
            <a:off x="4663440" y="43251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989320" y="4325112"/>
            <a:ext cx="1097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6035040" y="4325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086600" y="4325112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1"/>
          <p:cNvSpPr/>
          <p:nvPr/>
        </p:nvSpPr>
        <p:spPr>
          <a:xfrm>
            <a:off x="7132320" y="4325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320040" y="4709160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25" name="Text 123"/>
          <p:cNvSpPr/>
          <p:nvPr/>
        </p:nvSpPr>
        <p:spPr>
          <a:xfrm>
            <a:off x="365760" y="4709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691640" y="4709160"/>
            <a:ext cx="1463040" cy="384048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127" name="Text 125"/>
          <p:cNvSpPr/>
          <p:nvPr/>
        </p:nvSpPr>
        <p:spPr>
          <a:xfrm>
            <a:off x="173736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3154680" y="4709160"/>
            <a:ext cx="146304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29" name="Text 127"/>
          <p:cNvSpPr/>
          <p:nvPr/>
        </p:nvSpPr>
        <p:spPr>
          <a:xfrm>
            <a:off x="320040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$19.99/mo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4617720" y="4709160"/>
            <a:ext cx="137160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31" name="Text 129"/>
          <p:cNvSpPr/>
          <p:nvPr/>
        </p:nvSpPr>
        <p:spPr>
          <a:xfrm>
            <a:off x="4663440" y="4709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989320" y="4709160"/>
            <a:ext cx="109728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33" name="Text 131"/>
          <p:cNvSpPr/>
          <p:nvPr/>
        </p:nvSpPr>
        <p:spPr>
          <a:xfrm>
            <a:off x="6035040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$14.99/mo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086600" y="4709160"/>
            <a:ext cx="1280160" cy="384048"/>
          </a:xfrm>
          <a:prstGeom prst="rect">
            <a:avLst/>
          </a:prstGeom>
          <a:solidFill>
            <a:srgbClr val="F0F5F5"/>
          </a:solidFill>
          <a:ln/>
        </p:spPr>
      </p:sp>
      <p:sp>
        <p:nvSpPr>
          <p:cNvPr id="135" name="Text 133"/>
          <p:cNvSpPr/>
          <p:nvPr/>
        </p:nvSpPr>
        <p:spPr>
          <a:xfrm>
            <a:off x="713232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References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Mifflin, M.D. et al. (1990). A new predictive equation for resting energy expenditure. AJCN, 51(2), 241-247.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doi.org/10.1093/ajcn/51.2.241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Harris, J.A. &amp; Benedict, F.G. (1919). A biometric study of basal metabolism. PNAS. Rev: Roza &amp; Shizgal (1984).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pubmed.ncbi.nlm.nih.gov/6741850/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11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Frankenfield, D. et al. (2005). Comparison of predictive equations for RMR. JADA, 105(5), 775-789.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1671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pubmed.ncbi.nlm.nih.gov/15883556/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K.D. et al. (2011). Quantification of energy imbalance on bodyweight. The Lancet, 378(9793), 826-837.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doi.org/10.1016/S0140-6736(11)60812-X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53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Burke, L.E. et al. (2011). Self-monitoring in weight loss: systematic review. JADA, 111(1), 92-102.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2095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doi.org/10.1016/j.jada.2010.10.008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Linardon, J. et al. (2020). Accuracy of digital weight management app. JMIR mHealth, 8(1), e13226.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doi.org/10.2196/13226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995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Thomas, D.M. et al. (2014). Time to correctly predict weight loss with dieting. JAND, 114(6), 857-861.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pmc.ncbi.nlm.nih.gov/articles/PMC4035446/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17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 (2002). Dietary Reference Intakes (AMDR). National Academies Press.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ncbi.nlm.nih.gov/books/NBK610333/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References (2/2)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Vakkund, K. et al. (2024). ML-based Food Recommendation with Nutrition Estimation. IJDATS, 16(4).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dl.acm.org/doi/10.1504/ijdats.2024.142485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Subhi, M.A. et al. (2024). Accurate Food Nutrition Estimation (Uncertainty-Driven DL). Appl. Sci., 14(18).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mdpi.com/2076-3417/14/18/8575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11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Authors (2024). AI to Measure Food &amp; Nutrient Intakes: Scoping Review. JMIR mHealth.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1671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pmc.ncbi.nlm.nih.gov/articles/PMC11638690/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Theera-Ampornpunt, N. (2024). Thai Food Recognition Using DL With Cyclical Learning Rates. IEEE.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ieeexplore.ieee.org/document/10759670/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53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 (2024). Automated AI-Based Thai Food Dietary Assessment System. PMC11107195.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2095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pmc.ncbi.nlm.nih.gov/articles/PMC11107195/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(2025). Behavioral Science-Informed Agentic Workflow for Nutrition Coaching.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formative.jmir.org/2025/1/e75421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995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Aljaaf, A.J. et al. (2024). Hybrid healthy diet recommender system based on ML. Comput. Biol. Med.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sciencedirect.com/.../S0010482524014744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517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17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(2025). AI nutrition recommendation: validation with Mediterranean cuisine. Comms Med.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73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pmc.ncbi.nlm.nih.gov/articles/PMC12390980/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2E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783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16+ papers on BMR estimation, food recognition AI, dietary assessment, weight dynamics.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7764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Mifflin-St Jeor (1990), Atwater factors, NIH Dynamic Model. All validated against gold-standard.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54864" cy="178308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A3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food recommendation (NFS+Cosine+UP), multi-agent LLM, Thai NLP extraction with pythainlp.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Flutter frontend, FastAPI backend, PostgreSQL DB, Ollama LLM, Supabase Auth.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9776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use cases (Male/Female), calorie accuracy, weight trend regression, adherence analysis.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54864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580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 with 4 commercial apps. Identify unique Thai-focused AI contributions.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737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4A3A8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Thai-language multi-agent LLM nutrition coaching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09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algorithm (92% accuracy)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939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calorie engine (16+ research papers)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780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NLP food extraction pipeline (pythainlp)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62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(Flutter + FastAPI + PostgreSQL)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371600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food image recognition (THFOOD-100)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755648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709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food classification (ViT/Swin)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139696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093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IoT integration (real-time activity)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523744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478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NIH Dynamic Model ODE implementation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07792"/>
            <a:ext cx="164592" cy="164592"/>
          </a:xfrm>
          <a:prstGeom prst="ellipse">
            <a:avLst/>
          </a:prstGeom>
          <a:solidFill>
            <a:srgbClr val="14A3A8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862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user study with dietitians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8046720" cy="36576"/>
          </a:xfrm>
          <a:prstGeom prst="rect">
            <a:avLst/>
          </a:prstGeom>
          <a:solidFill>
            <a:srgbClr val="FF6B35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31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CalGuard: AI-Powered Nutrition Tracking for Thai Users</a:t>
            </a:r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Furemu | framesirisak@gmail.com | May 2026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CalGuard - AI-Powered Nutrition Tracking Platform</dc:title>
  <dc:subject>PptxGenJS Presentation</dc:subject>
  <dc:creator>Furemu (Framesirisak)</dc:creator>
  <cp:lastModifiedBy>Furemu (Framesirisak)</cp:lastModifiedBy>
  <cp:revision>1</cp:revision>
  <dcterms:created xsi:type="dcterms:W3CDTF">2026-05-04T16:58:05Z</dcterms:created>
  <dcterms:modified xsi:type="dcterms:W3CDTF">2026-05-04T16:58:05Z</dcterms:modified>
</cp:coreProperties>
</file>