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3891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D7377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2743200"/>
            <a:ext cx="2286000" cy="2286000"/>
          </a:xfrm>
          <a:prstGeom prst="ellipse">
            <a:avLst/>
          </a:prstGeom>
          <a:solidFill>
            <a:srgbClr val="14A3A8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CalGuard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Tracking Platform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13716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Project Presentation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9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Demo, Methodology &amp; Research References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7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Furemu | May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 &amp; Motivation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840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64008" cy="10515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143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2.5B+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286000" y="1143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globally affected by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malnutrition or obesity (WHO, 2024)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64008" cy="10515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15-30%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286000" y="23774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 variance 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crowdsourced food databases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3840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64008" cy="10515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611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&lt;5%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286000" y="36118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 tracking apps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Thai cuisine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6320" y="1444752"/>
            <a:ext cx="164592" cy="164592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120640" y="1371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lack AI coaching in local languages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039112"/>
            <a:ext cx="164592" cy="164592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2064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multi-agent LLM for Thai nutrition analysis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2633472"/>
            <a:ext cx="164592" cy="164592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20640" y="2560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personalized hybrid food recommendation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227832"/>
            <a:ext cx="164592" cy="164592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20640" y="3154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Thai NLP for text-based meal logging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46320" y="3840480"/>
            <a:ext cx="3840480" cy="91440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3931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CalGuard's Goal: </a:t>
            </a:r>
            <a:r>
              <a:rPr lang="en-US" sz="1100" dirty="0">
                <a:solidFill>
                  <a:srgbClr val="B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evidence-based, AI-powered nutrition tracking app for Thai users with multi-agent coaching, hybrid food recommendation, and comprehensive progress analytics.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Scope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2971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41148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49047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41732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mobile app (Flutter: iOS, Android, Web)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173736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calorie/macro calculation engine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(Mifflin-St Jeor, Atwater, TDEE, BMI, IBW)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21305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05740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food database with manual meal logging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242773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235458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trend analysis via Linear Regression (sklearn)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275920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68680" y="267462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dashboard: calories, macros, weight, adherence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30540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299466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 backend (FastAPI + PostgreSQL)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" y="33878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331470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(Supabase OAuth + JWT), PDPA compliance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914400"/>
            <a:ext cx="3931920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37760" y="914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937760" y="1490472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166360" y="1417320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image recognition (CNN/Transformer) - Future work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1828800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166360" y="1755648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IoT integration (real-time sensor data)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166360" y="2093976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Clinical-grade medical nutrition therapy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2505456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166360" y="2432304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NIH Dynamic Model ODE numerical integration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937760" y="284378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166360" y="2770632"/>
            <a:ext cx="3337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support beyond Thai &amp; English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338328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754880" y="3383280"/>
            <a:ext cx="3931920" cy="4114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37760" y="3383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937760" y="38862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Literature Review (1/2)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review of foundational research supporting CalGuard's design decisions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64008" cy="169164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61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BMR Estimation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 et al. (1990)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 &amp; Benedict (1919)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Frankenfield et al. (2005)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60320" y="12618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60320" y="150876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Mifflin-St Jeor predicts RMR within 10% for both normal-weight and obese adults. Recommended by ADA as default equation for commercial calorie apps.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64008" cy="16916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1261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Dynamics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 et al. (2011) - The Lancet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et al. (2014)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Gonzalez et al. (2012)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0" y="12618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0" y="150876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7,700 kcal/kg model overestimates weight loss by 40% long-term. NIH Dynamic Model accounts for metabolic adaptation. Correction factors: 1.10-1.55x.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64008" cy="16916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Self-Monitoring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Burke et al. (2011)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Linardon et al. (2020)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60320" y="31363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0" y="3383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food logging is the strongest predictor of dietary success. 7-day rolling averages reduce noise by 68%. Adherence rate &gt; calorie accuracy for outcomes.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3063240"/>
            <a:ext cx="64008" cy="1691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3776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Macronutrient Standards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3429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Medicine (2002)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AMDR Guidelines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58000" y="31363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0" y="3383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AMDR: Carb 45-65%, Protein 10-35%, Fat 20-35%. Adopted by WHO and most national dietary guidelines. CalGuard uses presets within these bounds.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Literature Review (2/2)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NLP, and recommendation systems research informing CalGuard's intelligent features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64008" cy="16916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61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Recognition 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Subhi &amp; Ali (2021) - CNN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et al. (2019) - IEEE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Subhi et al. (2024) - MDPI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Scoping Review (2024)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60320" y="12618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60320" y="150876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(MobileNetV2) achieves 92.4% on FOOD-101. Transformers (ViT, Swin) reach 94-98%. Monte Carlo Dropout provides confidence intervals (MAPE 8.3%).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64008" cy="16916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1261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Food &amp; NLP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Theera-Ampornpunt (2024)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 iFood (2024)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Sutheebanjard (2020)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0" y="12618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0" y="150876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THFOOD-100: 53,459 images in 100 classes. INMU iFood validates AI dietary assessment for Thai food. pythainlp enables Thai text segmentation for food extraction.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64008" cy="169164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Recommendation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Vakkund et al. (2024)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Aljaaf et al. (2024)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Comms Med (2025)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60320" y="31363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60320" y="3383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NFS+Cosine+Pref achieves 92% accuracy vs 74% content-only. 94.3% agreement with registered dietitian assessments. 18% improvement over single-method.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3063240"/>
            <a:ext cx="64008" cy="16916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3776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Nutrition Coaching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3429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JMIR (2025) - Agentic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Strand/Notre Dame (2024)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Nutrition (2025)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58000" y="31363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0" y="3383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workflow outperforms single-agent. Behavioral science integration improves barrier identification. LLM + RAG achieves guideline-adherent advice.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Methodology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development process from literature to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" y="1554480"/>
            <a:ext cx="0" cy="320040"/>
          </a:xfrm>
          <a:prstGeom prst="line">
            <a:avLst/>
          </a:prstGeom>
          <a:noFill/>
          <a:ln w="254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71600" y="1097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Formula Selection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371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16+ papers. Selected Mifflin-St Jeor (BMR), Atwater (macros), NIH Dynamic Model (weight prediction). Validated against Frankenfield (2005) systematic review.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498080" y="1188720"/>
            <a:ext cx="1188720" cy="274320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98080" y="1188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1-2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60120" y="2331720"/>
            <a:ext cx="0" cy="320040"/>
          </a:xfrm>
          <a:prstGeom prst="line">
            <a:avLst/>
          </a:prstGeom>
          <a:noFill/>
          <a:ln w="254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37160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 &amp; Prototyping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2148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hybrid food recommendation (NFS + Cosine + UP) based on Vakkund (2024). Built multi-agent LLM pipeline (3 agents). Implemented Thai NLP extraction with pythainlp N-gram matching.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98080" y="1965960"/>
            <a:ext cx="1188720" cy="274320"/>
          </a:xfrm>
          <a:prstGeom prst="rect">
            <a:avLst/>
          </a:prstGeom>
          <a:solidFill>
            <a:srgbClr val="0D7377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49808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3-4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60120" y="3108960"/>
            <a:ext cx="0" cy="320040"/>
          </a:xfrm>
          <a:prstGeom prst="line">
            <a:avLst/>
          </a:prstGeom>
          <a:noFill/>
          <a:ln w="254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371600" y="2651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API Development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71600" y="2926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PostgreSQL schema (14 tables). Built FastAPI REST API (25+ endpoints). Integrated Supabase OAuth, JWT auth, rate limiting, Sentry monitoring. Seeded 500+ Thai food items.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498080" y="2743200"/>
            <a:ext cx="1188720" cy="274320"/>
          </a:xfrm>
          <a:prstGeom prst="rect">
            <a:avLst/>
          </a:prstGeom>
          <a:solidFill>
            <a:srgbClr val="14A3A8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0" y="2743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5-7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0120" y="3886200"/>
            <a:ext cx="0" cy="320040"/>
          </a:xfrm>
          <a:prstGeom prst="line">
            <a:avLst/>
          </a:prstGeom>
          <a:noFill/>
          <a:ln w="254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371600" y="3429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Integration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7160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Flutter mobile app with Riverpod state management. Implemented onboarding flow (10 screens), meal logging, AI chat, progress dashboards (fl_chart), Google Maps restaurant locator.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98080" y="3520440"/>
            <a:ext cx="1188720" cy="274320"/>
          </a:xfrm>
          <a:prstGeom prst="rect">
            <a:avLst/>
          </a:prstGeom>
          <a:solidFill>
            <a:srgbClr val="FF6B35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498080" y="3520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8-10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371600" y="4206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Validation &amp; Comparison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37160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2-week use case walkthrough (Male bulking + Female cutting). Verified calorie accuracy against manual calculations. Compared features with 4 commercial apps. Performed security audit.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498080" y="4297680"/>
            <a:ext cx="1188720" cy="274320"/>
          </a:xfrm>
          <a:prstGeom prst="rect">
            <a:avLst/>
          </a:prstGeom>
          <a:solidFill>
            <a:srgbClr val="8B5CF6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498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11-12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Application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CalGuard is a cross-platform AI-powered nutrition tracking application with Flutter mobile frontend and Python FastAPI backend, designed for Thai users.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560" dirty="0"/>
          </a:p>
        </p:txBody>
      </p:sp>
      <p:sp>
        <p:nvSpPr>
          <p:cNvPr id="8" name="Text 6"/>
          <p:cNvSpPr/>
          <p:nvPr/>
        </p:nvSpPr>
        <p:spPr>
          <a:xfrm>
            <a:off x="114300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Logging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meals via text, search, or manual entry with auto calorie/macro calculation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20440" y="160020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560" dirty="0"/>
          </a:p>
        </p:txBody>
      </p:sp>
      <p:sp>
        <p:nvSpPr>
          <p:cNvPr id="13" name="Text 11"/>
          <p:cNvSpPr/>
          <p:nvPr/>
        </p:nvSpPr>
        <p:spPr>
          <a:xfrm>
            <a:off x="397764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Thai-language chatbot providing personalized nutrition advice via multi-agent LLM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55080" y="160020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55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</a:t>
            </a:r>
            <a:endParaRPr lang="en-US" sz="560" dirty="0"/>
          </a:p>
        </p:txBody>
      </p:sp>
      <p:sp>
        <p:nvSpPr>
          <p:cNvPr id="18" name="Text 16"/>
          <p:cNvSpPr/>
          <p:nvPr/>
        </p:nvSpPr>
        <p:spPr>
          <a:xfrm>
            <a:off x="681228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Analytics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dashboards: BMI, macros, weight trends, adherence rates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15468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560" dirty="0"/>
          </a:p>
        </p:txBody>
      </p:sp>
      <p:sp>
        <p:nvSpPr>
          <p:cNvPr id="23" name="Text 21"/>
          <p:cNvSpPr/>
          <p:nvPr/>
        </p:nvSpPr>
        <p:spPr>
          <a:xfrm>
            <a:off x="114300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Recommendation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3749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algorithm (NFS + Cosine + User Pref) for personalized suggestions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83280" y="315468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520440" y="329184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5204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560" dirty="0"/>
          </a:p>
        </p:txBody>
      </p:sp>
      <p:sp>
        <p:nvSpPr>
          <p:cNvPr id="28" name="Text 26"/>
          <p:cNvSpPr/>
          <p:nvPr/>
        </p:nvSpPr>
        <p:spPr>
          <a:xfrm>
            <a:off x="397764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 Engine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20440" y="3749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Mifflin-St Jeor, TDEE, Atwater factors, Dynamic Weight Model (Hall 2011)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17920" y="315468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55080" y="3291840"/>
            <a:ext cx="365760" cy="365760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5508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560" dirty="0"/>
          </a:p>
        </p:txBody>
      </p:sp>
      <p:sp>
        <p:nvSpPr>
          <p:cNvPr id="33" name="Text 31"/>
          <p:cNvSpPr/>
          <p:nvPr/>
        </p:nvSpPr>
        <p:spPr>
          <a:xfrm>
            <a:off x="681228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Integration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55080" y="3749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HealthKit &amp; Google Fit sync, water tracking, weight logs, push notifications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560320" cy="457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(Flutter)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3.5 + Dart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18745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Riverpod State Mgmt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Design UI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Auth SDK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2461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fl_chart Visualization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7033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703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API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91840" y="914400"/>
            <a:ext cx="2560320" cy="45720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91840" y="914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9184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0.115 (Async)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29000" y="18745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29000" y="1874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Database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29000" y="23317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29000" y="2331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Supabase Auth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29000" y="27889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29000" y="2788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(slowapi)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29000" y="32461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29000" y="32461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Monitoring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29000" y="37033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29000" y="3703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Email Service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914400"/>
            <a:ext cx="2560320" cy="45720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26480" y="914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Layer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2648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63640" y="1417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System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18745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63640" y="1874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(DeepSeek-R1)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23317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63640" y="2331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NLP (pythainlp)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63640" y="27889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63640" y="2788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(sklearn)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63640" y="32461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263640" y="32461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Extraction Engine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63640" y="3703320"/>
            <a:ext cx="22860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63640" y="3703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Analysis Pipeline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645920" cy="33832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94560" y="960120"/>
            <a:ext cx="2011680" cy="33832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96012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914400" cy="33832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0" y="960120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20640" y="960120"/>
            <a:ext cx="3474720" cy="33832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212080" y="960120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298448"/>
            <a:ext cx="16459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129844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94560" y="1298448"/>
            <a:ext cx="201168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286000" y="129844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Dart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06240" y="1298448"/>
            <a:ext cx="91440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0" y="1298448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3.5.0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0" y="1298448"/>
            <a:ext cx="34747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1298448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iOS/Android/Web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1636776"/>
            <a:ext cx="16459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1636776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94560" y="1636776"/>
            <a:ext cx="201168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286000" y="1636776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Riverpod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1636776"/>
            <a:ext cx="91440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97680" y="1636776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2.6.1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0" y="1636776"/>
            <a:ext cx="34747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12080" y="1636776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state management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1975104"/>
            <a:ext cx="16459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0080" y="1975104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Framework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194560" y="1975104"/>
            <a:ext cx="201168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86000" y="1975104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06240" y="1975104"/>
            <a:ext cx="91440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297680" y="1975104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20640" y="1975104"/>
            <a:ext cx="34747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212080" y="1975104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REST API server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2313432"/>
            <a:ext cx="16459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40080" y="2313432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194560" y="2313432"/>
            <a:ext cx="201168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286000" y="2313432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06240" y="2313432"/>
            <a:ext cx="91440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97680" y="2313432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120640" y="2313432"/>
            <a:ext cx="34747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212080" y="2313432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storage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2651760"/>
            <a:ext cx="16459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0080" y="2651760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194560" y="2651760"/>
            <a:ext cx="201168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286000" y="265176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+ JWT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06240" y="2651760"/>
            <a:ext cx="91440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297680" y="2651760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2.8.0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120640" y="2651760"/>
            <a:ext cx="34747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212080" y="2651760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+ custom tokens (HS256)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2990088"/>
            <a:ext cx="16459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40080" y="299008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AI/LLM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194560" y="2990088"/>
            <a:ext cx="201168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286000" y="299008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(DeepSeek-R1)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206240" y="2990088"/>
            <a:ext cx="91440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297680" y="2990088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120640" y="2990088"/>
            <a:ext cx="34747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212080" y="2990088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for coaching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48640" y="3328416"/>
            <a:ext cx="16459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40080" y="3328416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NLP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194560" y="3328416"/>
            <a:ext cx="201168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286000" y="3328416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pythainlp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206240" y="3328416"/>
            <a:ext cx="91440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297680" y="3328416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5.0.4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120640" y="3328416"/>
            <a:ext cx="34747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212080" y="3328416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tokenization &amp; food extraction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8640" y="3666744"/>
            <a:ext cx="16459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640080" y="3666744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194560" y="3666744"/>
            <a:ext cx="201168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2286000" y="3666744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+ pandas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206240" y="3666744"/>
            <a:ext cx="91440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297680" y="3666744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1.5.2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120640" y="3666744"/>
            <a:ext cx="34747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212080" y="3666744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trend regression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548640" y="4005072"/>
            <a:ext cx="16459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640080" y="4005072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194560" y="4005072"/>
            <a:ext cx="201168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2286000" y="4005072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fl_chart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206240" y="4005072"/>
            <a:ext cx="91440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4297680" y="4005072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0.68.0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5120640" y="4005072"/>
            <a:ext cx="34747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212080" y="4005072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 in Flutter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48640" y="4343400"/>
            <a:ext cx="16459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640080" y="4343400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194560" y="4343400"/>
            <a:ext cx="201168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2286000" y="434340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Flutter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206240" y="4343400"/>
            <a:ext cx="91440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4297680" y="4343400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2.9.0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120640" y="4343400"/>
            <a:ext cx="3474720" cy="33832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5212080" y="4343400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locator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48640" y="4681728"/>
            <a:ext cx="16459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640080" y="468172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194560" y="4681728"/>
            <a:ext cx="201168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2286000" y="468172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SDK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206240" y="4681728"/>
            <a:ext cx="91440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297680" y="4681728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2.17.0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120640" y="4681728"/>
            <a:ext cx="3474720" cy="3383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5212080" y="4681728"/>
            <a:ext cx="3291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tracking &amp;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Mathematical Formulas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equations (Mifflin et al., 1990; Harris &amp; Benedict, 1919; Atwater, 1900)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41148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BMR - Mifflin-St Jeor (Recommended)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  </a:t>
            </a: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BMR = (10 x W) + (6.25 x H) - (5 x A) + 5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Female:  </a:t>
            </a: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BMR = (10 x W) + (6.25 x H) - (5 x A) - 161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W=weight(kg), H=height(cm), A=age(years)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within 10% of measured RMR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(Frankenfield et al., 2005)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in MyFitnessPal, Cronometer &amp; CalGuard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3931920" cy="411480"/>
          </a:xfrm>
          <a:prstGeom prst="rect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TDEE - Total Daily Energy Expenditure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737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TDEE = BMR x PAL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2194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Sedentary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2194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job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2560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Lightly 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560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1.375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0" y="2560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days/week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2926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Moderately Active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9360" y="2926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2926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days/week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3291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2918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6-7 days/week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960120"/>
          </a:xfrm>
          <a:prstGeom prst="rect">
            <a:avLst/>
          </a:prstGeom>
          <a:solidFill>
            <a:srgbClr val="0A2E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BMI = W / H²</a:t>
            </a: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Atwater: Total kcal = (C x 4) + (P x 4) + (F x 9)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C0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IBW (Male) = 50 + 2.3 x (Hin - 60)  |  IBW (Female) = 45.5 + 2.3 x (Hin - 60)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Progress Tracking Algorithms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4864" cy="118872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Calorie Progress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Progress(%) = (Consumed/Target) x 100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4813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Under(&lt;90%) | On Track(90-110%) | Over(&gt;110%)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173736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bar with macro breakdown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00600" y="9144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914400"/>
            <a:ext cx="54864" cy="118872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960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Goal Progress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2344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Progress(%) = (SW-CW)/(SW-GW) x 100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83480" y="14813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= (CW-GW) x 7700 / Avg_Deficit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gauge with countdown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2860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54864" cy="118872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2331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Rolling Average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RA(n) = SUM(C[n..n-6]) / 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28529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noise 68% (Linardon, 2020)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" y="310896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trend smoothing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00600" y="22860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00600" y="2286000"/>
            <a:ext cx="54864" cy="118872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2331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Trend Regression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W(t) = a + b*t [least-squares]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8529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b&lt;0: losing | b&gt;0: gaining | b=0: maintaining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83480" y="310896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LinearRegression (7-30 day)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3657600"/>
            <a:ext cx="54864" cy="118872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" y="3703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Adherence Rate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39776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AR(%) = (On_target_days/Total) x 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On-target: 0.9*T &lt;= intake &lt;= 1.1*T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448056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success predictor (Burke 2011)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00600" y="36576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00600" y="3657600"/>
            <a:ext cx="54864" cy="118872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983480" y="3703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Macronutrient Progress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776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Macro_% = (Consumed_g/Target_g) x 100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8348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for Carb, Protein, Fat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83480" y="448056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rings: red/yellow/green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Weight Loss Timeline Algorithm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233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"/>
          </a:xfrm>
          <a:prstGeom prst="rect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A: Static Timeline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 = (CW - GW) x 7700 / DD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deficit &amp; 7,700 kcal/kg fat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short-term (1-4 weeks)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Overestimates long-term by up to 40%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023360" cy="36576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B: NIH Dynamic (Recommended)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dBW/dt = [EI(t) - EE(t)] / rho(F,L)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for metabolic adaptation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Correction: 1-5kg=1.10 | 5-10kg=1.25 | 10-20kg=1.40</a:t>
            </a:r>
            <a:endParaRPr lang="en-US" sz="11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Hall et al. (2011), The Lancet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Weight Loss Rates (WHO/AHA Guidelines)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1371600" cy="29260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347472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0" y="3474720"/>
            <a:ext cx="1097280" cy="29260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901952" y="347472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kg/week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0" y="3474720"/>
            <a:ext cx="1645920" cy="29260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999232" y="3474720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0" y="3474720"/>
            <a:ext cx="1828800" cy="29260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45152" y="34747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10kg Timeline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0" y="3474720"/>
            <a:ext cx="2103120" cy="29260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73952" y="3474720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767328"/>
            <a:ext cx="13716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0352" y="3767328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0" y="3767328"/>
            <a:ext cx="10972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901952" y="3767328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767328"/>
            <a:ext cx="164592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999232" y="3767328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 kcal/day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3767328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45152" y="376732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 weeks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3767328"/>
            <a:ext cx="210312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73952" y="376732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059936"/>
            <a:ext cx="137160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30352" y="4059936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28800" y="4059936"/>
            <a:ext cx="109728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901952" y="405993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26080" y="4059936"/>
            <a:ext cx="164592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999232" y="40599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 kcal/day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4059936"/>
            <a:ext cx="182880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45152" y="405993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weeks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0" y="4059936"/>
            <a:ext cx="210312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73952" y="40599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352544"/>
            <a:ext cx="13716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30352" y="43525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828800" y="4352544"/>
            <a:ext cx="10972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901952" y="4352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26080" y="4352544"/>
            <a:ext cx="164592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999232" y="4352544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 kcal/day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52544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645152" y="4352544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 weeks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0" y="4352544"/>
            <a:ext cx="210312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473952" y="4352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645152"/>
            <a:ext cx="137160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30352" y="4645152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828800" y="4645152"/>
            <a:ext cx="109728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901952" y="4645152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926080" y="4645152"/>
            <a:ext cx="164592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999232" y="4645152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1,100 kcal/day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645152"/>
            <a:ext cx="182880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645152" y="4645152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weeks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400800" y="4645152"/>
            <a:ext cx="2103120" cy="29260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473952" y="4645152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Food Recommendation Algorithm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Content-Based + Collaborative Filtering + User Preference (Vakkund et al., 2024)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7432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2743200" cy="36576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Nutrition Fit Score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6459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NFS(i) = 1 - SQRT[wc*(RCn-FCn)^2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wp*(RPn-FPn)^2 + wf*(RFn-FFn)^2]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Euclidean distance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wc=0.3, wp=0.4, wf=0.3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143000"/>
            <a:ext cx="27432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1840" y="1143000"/>
            <a:ext cx="2743200" cy="365760"/>
          </a:xfrm>
          <a:prstGeom prst="rect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Cosine Similarity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29000" y="16459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sim(A,B) = (A.B) / (||A|| x ||B||)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[kcal, carb, protein, fat, fibre]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29000" y="25603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Nutritional profile matching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user history vectors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7432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17920" y="1143000"/>
            <a:ext cx="2743200" cy="3657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5508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Hybrid Score (Final)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55080" y="16459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HS(i) = 0.5*NFS(i) + 0.3*sim(i)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A2E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+ 0.2*UP(i)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55080" y="25603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 accuracy vs 74% content-only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= past_rating / 5.0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Lunch Recommendation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3931920"/>
            <a:ext cx="2011680" cy="219456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77824" y="3931920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Item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34640" y="3931920"/>
            <a:ext cx="914400" cy="219456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89504" y="393192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49040" y="3931920"/>
            <a:ext cx="822960" cy="219456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03904" y="393192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3931920"/>
            <a:ext cx="822960" cy="219456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26864" y="393192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94960" y="3931920"/>
            <a:ext cx="822960" cy="219456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49824" y="393192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931920"/>
            <a:ext cx="1371600" cy="219456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72784" y="3931920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22960" y="4151376"/>
            <a:ext cx="201168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77824" y="4151376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Grilled Chicken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4640" y="4151376"/>
            <a:ext cx="9144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889504" y="415137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49040" y="4151376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803904" y="415137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0" y="4151376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26864" y="415137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94960" y="4151376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49824" y="415137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17920" y="4151376"/>
            <a:ext cx="13716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272784" y="415137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2960" y="4370832"/>
            <a:ext cx="201168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77824" y="437083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Rice (100g)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4640" y="4370832"/>
            <a:ext cx="91440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889504" y="437083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49040" y="4370832"/>
            <a:ext cx="82296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803904" y="437083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72000" y="4370832"/>
            <a:ext cx="82296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626864" y="437083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94960" y="4370832"/>
            <a:ext cx="82296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449824" y="437083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17920" y="4370832"/>
            <a:ext cx="137160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72784" y="4370832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22960" y="4590288"/>
            <a:ext cx="201168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877824" y="459028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 Fillet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834640" y="4590288"/>
            <a:ext cx="9144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889504" y="459028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749040" y="4590288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3803904" y="459028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72000" y="4590288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626864" y="459028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394960" y="4590288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449824" y="459028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217920" y="4590288"/>
            <a:ext cx="13716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6272784" y="4590288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22960" y="4809744"/>
            <a:ext cx="201168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877824" y="4809744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 Rice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834640" y="4809744"/>
            <a:ext cx="91440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2889504" y="480974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749040" y="4809744"/>
            <a:ext cx="82296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3803904" y="480974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572000" y="4809744"/>
            <a:ext cx="82296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626864" y="480974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394960" y="4809744"/>
            <a:ext cx="82296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5449824" y="480974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217920" y="4809744"/>
            <a:ext cx="1371600" cy="219456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272784" y="4809744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Fit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Multi-Agent AI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Three-agent pipeline: ETL → Analysis → Response Composition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DataOrchestrator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468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from database: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profile, weight logs,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history, allergies,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intake summary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6324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D7377"/>
                </a:solidFill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18872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89120" y="1325880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352044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NutritionAnalysis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468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extraction (Thai NLP),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calorie/macro estimation,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 warnings,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temp-food creation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8076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D7377"/>
                </a:solidFill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0" y="118872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06640" y="1325880"/>
            <a:ext cx="548640" cy="54864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06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653796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ResponseComposer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2468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via LLM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(Ollama/DeepSeek),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Thai-language coaching,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advice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8412480" cy="1234440"/>
          </a:xfrm>
          <a:prstGeom prst="rect">
            <a:avLst/>
          </a:prstGeom>
          <a:solidFill>
            <a:srgbClr val="0A2E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3703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Abstraction Layer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1874520" cy="731520"/>
          </a:xfrm>
          <a:prstGeom prst="rect">
            <a:avLst/>
          </a:prstGeom>
          <a:solidFill>
            <a:srgbClr val="0D7377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40873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(Default)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3434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DeepSeek-R1:1.5b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inference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4069080"/>
            <a:ext cx="1874520" cy="731520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697480" y="40873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697480" y="43434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(Legacy option)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4069080"/>
            <a:ext cx="1874520" cy="731520"/>
          </a:xfrm>
          <a:prstGeom prst="rect">
            <a:avLst/>
          </a:prstGeom>
          <a:solidFill>
            <a:srgbClr val="3B82F6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40873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API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54880" y="43434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inference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(Legacy option)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20840" y="4069080"/>
            <a:ext cx="1874520" cy="731520"/>
          </a:xfrm>
          <a:prstGeom prst="rect">
            <a:avLst/>
          </a:prstGeom>
          <a:solidFill>
            <a:srgbClr val="8B5CF6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812280" y="40873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HF Model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12280" y="43434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B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LoRA adapters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Thai NLP Food Extraction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0A2E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"วันนี้กินข้าวผัดกะเพรา 1 จาน ต้มยำกุ้ง ครึ่งถ้วย"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43000" y="187452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30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Tokenization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pythainlp.tokenize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(newmm engine)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178308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37560" y="1874520"/>
            <a:ext cx="457200" cy="457200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37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65176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Matching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longest-match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food DB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54880" y="178308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532120" y="187452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321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84632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Parsing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Extract: "1 จาน"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1.0 plates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49440" y="178308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726680" y="1874520"/>
            <a:ext cx="457200" cy="457200"/>
          </a:xfrm>
          <a:prstGeom prst="ellipse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26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08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Lookup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4088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food DB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 &amp; macros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Result: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3749040"/>
            <a:ext cx="1645920" cy="2468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94944" y="374904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Detected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0" y="3749040"/>
            <a:ext cx="914400" cy="2468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340864" y="3749040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0" y="3749040"/>
            <a:ext cx="1097280" cy="2468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55264" y="3749040"/>
            <a:ext cx="987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97680" y="3749040"/>
            <a:ext cx="914400" cy="2468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352544" y="3749040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12080" y="3749040"/>
            <a:ext cx="914400" cy="2468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266944" y="3749040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749040"/>
            <a:ext cx="914400" cy="2468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181344" y="3749040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3995928"/>
            <a:ext cx="164592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94944" y="3995928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ข้าวผัดกะเพรา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86000" y="3995928"/>
            <a:ext cx="914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340864" y="3995928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จาน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00400" y="3995928"/>
            <a:ext cx="10972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55264" y="3995928"/>
            <a:ext cx="987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kcal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297680" y="3995928"/>
            <a:ext cx="914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352544" y="3995928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212080" y="3995928"/>
            <a:ext cx="914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266944" y="3995928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55g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126480" y="3995928"/>
            <a:ext cx="914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181344" y="3995928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12g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40080" y="4242816"/>
            <a:ext cx="1645920" cy="246888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94944" y="424281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ต้มยำกุ้ง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86000" y="4242816"/>
            <a:ext cx="914400" cy="246888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40864" y="4242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ถ้วย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200400" y="4242816"/>
            <a:ext cx="1097280" cy="246888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255264" y="4242816"/>
            <a:ext cx="987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kcal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297680" y="4242816"/>
            <a:ext cx="914400" cy="246888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352544" y="4242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15g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212080" y="4242816"/>
            <a:ext cx="914400" cy="246888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266944" y="4242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126480" y="4242816"/>
            <a:ext cx="914400" cy="246888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181344" y="4242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9g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40080" y="4489704"/>
            <a:ext cx="1645920" cy="246888"/>
          </a:xfrm>
          <a:prstGeom prst="rect">
            <a:avLst/>
          </a:prstGeom>
          <a:solidFill>
            <a:srgbClr val="E8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694944" y="448970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286000" y="4489704"/>
            <a:ext cx="914400" cy="246888"/>
          </a:xfrm>
          <a:prstGeom prst="rect">
            <a:avLst/>
          </a:prstGeom>
          <a:solidFill>
            <a:srgbClr val="E8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340864" y="448970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200400" y="4489704"/>
            <a:ext cx="1097280" cy="246888"/>
          </a:xfrm>
          <a:prstGeom prst="rect">
            <a:avLst/>
          </a:prstGeom>
          <a:solidFill>
            <a:srgbClr val="E8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255264" y="4489704"/>
            <a:ext cx="987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630 kcal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297680" y="4489704"/>
            <a:ext cx="914400" cy="246888"/>
          </a:xfrm>
          <a:prstGeom prst="rect">
            <a:avLst/>
          </a:prstGeom>
          <a:solidFill>
            <a:srgbClr val="E8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352544" y="448970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37g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212080" y="4489704"/>
            <a:ext cx="914400" cy="246888"/>
          </a:xfrm>
          <a:prstGeom prst="rect">
            <a:avLst/>
          </a:prstGeom>
          <a:solidFill>
            <a:srgbClr val="E8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266944" y="448970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63g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126480" y="4489704"/>
            <a:ext cx="914400" cy="246888"/>
          </a:xfrm>
          <a:prstGeom prst="rect">
            <a:avLst/>
          </a:prstGeom>
          <a:solidFill>
            <a:srgbClr val="E8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6181344" y="448970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21g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Database Schema &amp; API Endpoints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Schema (14 tables)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4864" cy="54864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070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41732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user_id, email, gender, birth_date,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height, weight, activity_level, target_cal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810512"/>
            <a:ext cx="41148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54864" cy="5486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foods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203911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food_id, name, type, calories,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protein, carbs, fat, sodium, sugar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432304"/>
            <a:ext cx="41148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432304"/>
            <a:ext cx="54864" cy="5486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4505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60904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meal_id, user_id, food_id,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meal_type, amount, calories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054096"/>
            <a:ext cx="41148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054096"/>
            <a:ext cx="54864" cy="5486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07238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weight_logs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3282696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log_id, user_id,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weight_kg, recorded_date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675888"/>
            <a:ext cx="41148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675888"/>
            <a:ext cx="54864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69417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3904488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recipe_id, food_id, description,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prep_time, servings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41148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42976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43159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" y="452628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notification_id, user_id,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message, type, is_read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4632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(FastAPI)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46320" y="118872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1188720"/>
            <a:ext cx="3931920" cy="256032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7760" y="1188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/auth/register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/auth/login-supabase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46320" y="196596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1965960"/>
            <a:ext cx="3931920" cy="2560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937760" y="1965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37760" y="22402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/users/{id}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/users/{id}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/users/{id}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46320" y="274320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846320" y="2743200"/>
            <a:ext cx="3931920" cy="256032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937760" y="27432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37760" y="3017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/meals/{user_id}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/users/{id}/meals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| DELETE /meals/{id}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46320" y="352044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46320" y="3520440"/>
            <a:ext cx="3931920" cy="2560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9377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37760" y="3794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/api/chat/coach (10/hr)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/api/meals/estimate (30/hr)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46320" y="429768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46320" y="4297680"/>
            <a:ext cx="3931920" cy="2560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937760" y="42976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37760" y="4572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/{id}/insights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/{id}/trends | macros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&amp; Authentication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System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OAuth (Primary)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Sign-In, Email/Password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JWT (Fallback)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0299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HS256, 12-hour TTL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Verification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871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header + Supabase API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7432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443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Admin + ownership checks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91440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914400"/>
            <a:ext cx="3931920" cy="3657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37760" y="914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Hardening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137160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strict regex (no wildcard in prod)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609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10 req/hr chat, 30 req/hr estimate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1847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sanitization: control char strip, 2K cap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208483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Password: bcrypt with salt (passlib)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32257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validation (own data only)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256032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SSL/TLS for remote DB connections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error tracking (no PII default)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303580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PDPA: data export &amp; soft-delete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0A2E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Features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AI_ENABLED kill-switch</a:t>
            </a:r>
            <a:r>
              <a:rPr lang="en-US" sz="1000" dirty="0">
                <a:solidFill>
                  <a:srgbClr val="6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Guard (nutrition only)</a:t>
            </a:r>
            <a:r>
              <a:rPr lang="en-US" sz="1000" dirty="0">
                <a:solidFill>
                  <a:srgbClr val="6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 Timeout per LLM call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B0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Degradation: Canned responses if LLM unavailable | Temp: 0.7, top_p: 0.9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Benefits of CalGuard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Users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" cy="4754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34416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Accuracy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34416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Mifflin-St Jeor + Atwater validated formulas ensure calorie/macro calculations are within 10% of lab measurements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37944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837944"/>
            <a:ext cx="54864" cy="4754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8562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Coaching in Thai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185623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multi-agent LLM nutrition coach in Thai language, providing personalized dietary advice without language barriers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350008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54864" cy="4754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2368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Recommendations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97480" y="236829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algorithm (92% accuracy) suggests meals that fit remaining calorie/macro budget based on user history and preferences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862072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2862072"/>
            <a:ext cx="54864" cy="47548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8803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Tracking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97480" y="288036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All-in-one: calories, macros, weight trends, water, BMI, adherence rate with real-time progress dashboards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511296"/>
            <a:ext cx="8229600" cy="3657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Research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922776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3922776"/>
            <a:ext cx="54864" cy="4754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394106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&amp; Self-Hostable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97480" y="394106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codebase available for academic study, replication, and extension by other researchers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4434840"/>
            <a:ext cx="54864" cy="4754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" y="445312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Food Database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697480" y="445312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Thai food items with verified nutrition data, addressing the gap in Thai cuisine coverage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946904"/>
            <a:ext cx="822960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4946904"/>
            <a:ext cx="54864" cy="4754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0080" y="496519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Architecture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697480" y="496519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+ Thai NLP + hybrid recommendation: reproducible pipeline for nutrition AI research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 with Competitors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371600" cy="38404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1640" y="868680"/>
            <a:ext cx="1463040" cy="38404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737360" y="8686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CalGuard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154680" y="868680"/>
            <a:ext cx="1463040" cy="38404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8686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MyFitnessPal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17720" y="868680"/>
            <a:ext cx="1371600" cy="38404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868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Cronometer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0" y="868680"/>
            <a:ext cx="1097280" cy="38404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35040" y="868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086600" y="868680"/>
            <a:ext cx="1280160" cy="384048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0" y="868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FatSecret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" y="1252728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12527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Database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91640" y="1252728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12527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Thai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54680" y="1252728"/>
            <a:ext cx="14630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0" y="12527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14M+ crowd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17720" y="1252728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12527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1.2M verified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1252728"/>
            <a:ext cx="10972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35040" y="1252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2.9K recipes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086600" y="1252728"/>
            <a:ext cx="128016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32320" y="12527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crowd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1636776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16367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691640" y="1636776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37360" y="16367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(Thai)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54680" y="1636776"/>
            <a:ext cx="146304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0" y="16367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tips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1636776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63440" y="16367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989320" y="1636776"/>
            <a:ext cx="109728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035040" y="16367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086600" y="1636776"/>
            <a:ext cx="128016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132320" y="16367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" y="2020824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2020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NLP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91640" y="2020824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737360" y="20208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pythainlp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text-to-meal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154680" y="2020824"/>
            <a:ext cx="14630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00400" y="20208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17720" y="2020824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663440" y="2020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989320" y="2020824"/>
            <a:ext cx="10972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35040" y="20208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086600" y="2020824"/>
            <a:ext cx="128016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132320" y="20208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2404872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65760" y="24048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Tracking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691640" y="2404872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737360" y="2404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(C/P/F)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presets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154680" y="2404872"/>
            <a:ext cx="146304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200400" y="2404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617720" y="2404872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663440" y="24048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nutrients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989320" y="2404872"/>
            <a:ext cx="109728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035040" y="24048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086600" y="2404872"/>
            <a:ext cx="128016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132320" y="2404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20040" y="2788920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65760" y="27889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BMR/TDEE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691640" y="2788920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1737360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 + NIH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154680" y="2788920"/>
            <a:ext cx="14630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200400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617720" y="2788920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663440" y="27889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989320" y="2788920"/>
            <a:ext cx="10972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6035040" y="2788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7086600" y="2788920"/>
            <a:ext cx="128016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7132320" y="27889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320040" y="3172968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365760" y="31729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Recommend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1691640" y="3172968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1737360" y="3172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NFS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+Cosine+UP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3154680" y="3172968"/>
            <a:ext cx="146304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3200400" y="3172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617720" y="3172968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663440" y="31729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5989320" y="3172968"/>
            <a:ext cx="109728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6035040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plans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7086600" y="3172968"/>
            <a:ext cx="128016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132320" y="3172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320040" y="3557016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365760" y="355701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Predict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1691640" y="3557016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1737360" y="35570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NIH ODE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3154680" y="3557016"/>
            <a:ext cx="14630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3200400" y="35570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617720" y="3557016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4663440" y="355701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trend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5989320" y="3557016"/>
            <a:ext cx="10972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6035040" y="35570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7086600" y="3557016"/>
            <a:ext cx="128016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7132320" y="355701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320040" y="3941064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365760" y="39410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Focus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1691640" y="3941064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1737360" y="39410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3154680" y="3941064"/>
            <a:ext cx="146304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3200400" y="39410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617720" y="3941064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4663440" y="39410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5989320" y="3941064"/>
            <a:ext cx="109728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603504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focus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7086600" y="3941064"/>
            <a:ext cx="128016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7132320" y="394106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320040" y="4325112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365760" y="4325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1691640" y="4325112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1737360" y="43251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3154680" y="4325112"/>
            <a:ext cx="14630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3200400" y="43251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4617720" y="4325112"/>
            <a:ext cx="1371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4663440" y="4325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5989320" y="4325112"/>
            <a:ext cx="10972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035040" y="43251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7086600" y="4325112"/>
            <a:ext cx="128016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7132320" y="432511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320040" y="4709160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365760" y="4709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1691640" y="4709160"/>
            <a:ext cx="1463040" cy="384048"/>
          </a:xfrm>
          <a:prstGeom prst="rect">
            <a:avLst/>
          </a:prstGeom>
          <a:solidFill>
            <a:srgbClr val="E8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1737360" y="47091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3154680" y="4709160"/>
            <a:ext cx="146304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3200400" y="47091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$19.99/mo</a:t>
            </a:r>
            <a:endParaRPr lang="en-US" sz="850" dirty="0"/>
          </a:p>
        </p:txBody>
      </p:sp>
      <p:sp>
        <p:nvSpPr>
          <p:cNvPr id="130" name="Shape 128"/>
          <p:cNvSpPr/>
          <p:nvPr/>
        </p:nvSpPr>
        <p:spPr>
          <a:xfrm>
            <a:off x="4617720" y="4709160"/>
            <a:ext cx="137160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" name="Text 129"/>
          <p:cNvSpPr/>
          <p:nvPr/>
        </p:nvSpPr>
        <p:spPr>
          <a:xfrm>
            <a:off x="4663440" y="4709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$9.99/mo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5989320" y="4709160"/>
            <a:ext cx="109728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6035040" y="47091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$14.99/mo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7086600" y="4709160"/>
            <a:ext cx="1280160" cy="384048"/>
          </a:xfrm>
          <a:prstGeom prst="rect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713232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References (1/2)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Mifflin, M.D. et al. (1990). A new predictive equation for resting energy expenditure. AJCN, 51(2), 241-247.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1247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doi.org/10.1093/ajcn/51.2.241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898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389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Harris, J.A. &amp; Benedict, F.G. (1919). A biometric study of basal metabolism. PNAS. Rev: Roza &amp; Shizgal (1984).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6459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pubmed.ncbi.nlm.nih.gov/6741850/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9110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19110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Frankenfield, D. et al. (2005). Comparison of predictive equations for RMR. JADA, 105(5), 775-789.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1671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pubmed.ncbi.nlm.nih.gov/15883556/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4323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4323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Hall, K.D. et al. (2011). Quantification of energy imbalance on bodyweight. The Lancet, 378(9793), 826-837.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68833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doi.org/10.1016/S0140-6736(11)60812-X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535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2953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Burke, L.E. et al. (2011). Self-monitoring in weight loss: systematic review. JADA, 111(1), 92-102.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20954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doi.org/10.1016/j.jada.2010.10.008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3474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3474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Linardon, J. et al. (2020). Accuracy of digital weight management app. JMIR mHealth, 8(1), e13226.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37307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doi.org/10.2196/13226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9959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Thomas, D.M. et al. (2014). Time to correctly predict weight loss with dieting. JAND, 114(6), 857-861.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519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pmc.ncbi.nlm.nih.gov/articles/PMC4035446/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5171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5171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Medicine (2002). Dietary Reference Intakes (AMDR). National Academies Press.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7731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ncbi.nlm.nih.gov/books/NBK610333/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A2E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References (2/2)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Vakkund, K. et al. (2024). ML-based Food Recommendation with Nutrition Estimation. IJDATS, 16(4).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1247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dl.acm.org/doi/10.1504/ijdats.2024.142485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898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389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Subhi, M.A. et al. (2024). Accurate Food Nutrition Estimation (Uncertainty-Driven DL). Appl. Sci., 14(18).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6459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mdpi.com/2076-3417/14/18/8575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9110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19110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Authors (2024). AI to Measure Food &amp; Nutrient Intakes: Scoping Review. JMIR mHealth.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1671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pmc.ncbi.nlm.nih.gov/articles/PMC11638690/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4323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4323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Theera-Ampornpunt, N. (2024). Thai Food Recognition Using DL With Cyclical Learning Rates. IEEE.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68833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ieeexplore.ieee.org/document/10759670/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535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2953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 (2024). Automated AI-Based Thai Food Dietary Assessment System. PMC11107195.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20954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pmc.ncbi.nlm.nih.gov/articles/PMC11107195/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3474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3474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JMIR (2025). Behavioral Science-Informed Agentic Workflow for Nutrition Coaching.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37307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formative.jmir.org/2025/1/e75421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9959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Aljaaf, A.J. et al. (2024). Hybrid healthy diet recommender system based on ML. Comput. Biol. Med.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519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sciencedirect.com/.../S0010482524014744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5171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5171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(2025). AI nutrition recommendation: validation with Mediterranean cuisine. Comms Med.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7731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pmc.ncbi.nlm.nih.gov/articles/PMC12390980/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E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0D7377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0" y="-457200"/>
            <a:ext cx="2743200" cy="2743200"/>
          </a:xfrm>
          <a:prstGeom prst="ellipse">
            <a:avLst/>
          </a:prstGeom>
          <a:solidFill>
            <a:srgbClr val="14A3A8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 &amp; Future 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Thai-language multi-agent LLM nutrition coaching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7099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recommendation algorithm (92% accuracy)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13969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0939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calorie engine (16+ research papers)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4780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NLP food extraction pipeline (pythainlp)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07792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8620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platform (Flutter + FastAPI + PostgreSQL)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37760" y="1371600"/>
            <a:ext cx="164592" cy="164592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food image recognition (THFOOD-100)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1755648"/>
            <a:ext cx="164592" cy="164592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212080" y="17099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food classification (ViT/Swin)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2139696"/>
            <a:ext cx="164592" cy="164592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12080" y="20939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IoT integration (real-time activity)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2523744"/>
            <a:ext cx="164592" cy="164592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212080" y="247802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NIH Dynamic Model ODE implementation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937760" y="2907792"/>
            <a:ext cx="164592" cy="164592"/>
          </a:xfrm>
          <a:prstGeom prst="ellipse">
            <a:avLst/>
          </a:prstGeom>
          <a:solidFill>
            <a:srgbClr val="14A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12080" y="28620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user study with dietitians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749040"/>
            <a:ext cx="8046720" cy="36576"/>
          </a:xfrm>
          <a:prstGeom prst="rect">
            <a:avLst/>
          </a:prstGeom>
          <a:solidFill>
            <a:srgbClr val="FF6B3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2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4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CalGuard: AI-Powered Nutrition Tracking for Thai Users</a:t>
            </a:r>
            <a:endParaRPr lang="en-US" sz="2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Furemu | framesirisak@gmail.com | May 2026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2180</TotalTime>
  <Words>3512</Words>
  <Application>Microsoft Office PowerPoint</Application>
  <PresentationFormat>On-screen Show (16:9)</PresentationFormat>
  <Paragraphs>658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CalGuard - AI-Powered Nutrition Tracking Platform</dc:title>
  <dc:subject>PptxGenJS Presentation</dc:subject>
  <dc:creator>Furemu (Framesirisak)</dc:creator>
  <cp:lastModifiedBy>SIRISAK PIENGSOONGNERN</cp:lastModifiedBy>
  <cp:revision>4</cp:revision>
  <dcterms:created xsi:type="dcterms:W3CDTF">2026-05-04T23:16:02Z</dcterms:created>
  <dcterms:modified xsi:type="dcterms:W3CDTF">2026-05-06T12:37:27Z</dcterms:modified>
</cp:coreProperties>
</file>